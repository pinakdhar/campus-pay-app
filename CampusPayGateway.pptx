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00876F">
              <a:alpha val="15000"/>
            </a:srgbClr>
          </a:solidFill>
          <a:ln w="12700">
            <a:solidFill>
              <a:srgbClr val="00876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286000"/>
            <a:ext cx="2286000" cy="2286000"/>
          </a:xfrm>
          <a:prstGeom prst="ellipse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INNOVATION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Campus Pay Gateway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Hyper-Local Payment &amp; Gamification Platform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UPI Infrastructure for Campus Ecosystems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18288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  |   Fintech &amp; Gamification   |   2025–26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Gap in the Campus Ecosystem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7432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😟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4632" y="21031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Loyalty Program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" y="260604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make dozens of micro-transactions at canteens &amp; stationery shops daily via UPI — but earn zero rewards.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188720"/>
            <a:ext cx="27432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417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02152" y="21031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 Blind Spot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02152" y="260604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lack tools for customer retention, off-peak promotions, or data-driven insights about their buyers.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55080" y="118872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188720"/>
            <a:ext cx="27432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417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519672" y="21031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Missed Opportunity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19672" y="260604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pursue cashless campus goals, yet no localized loyalty layer exists to incentivize digital spending.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Hyper-Local Payment &amp; Gamification Gateway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914400"/>
          </a:xfrm>
          <a:prstGeom prst="rect">
            <a:avLst/>
          </a:prstGeom>
          <a:solidFill>
            <a:srgbClr val="0F2342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53312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aggregator app that layers a proprietary 'Campus Credit' loyalty system on top of existing UPI infrastructure — bridging the gap between a standard payment gateway and a campus-wide rewards program.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" y="2331720"/>
            <a:ext cx="4206240" cy="1143000"/>
          </a:xfrm>
          <a:prstGeom prst="rect">
            <a:avLst/>
          </a:prstGeom>
          <a:solidFill>
            <a:srgbClr val="0F234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33272" y="24048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Intent Integration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33272" y="271576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UPI Deep Links to delegate payments to the student's chosen UPI app — no new payment infrastructure needed.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3611880"/>
            <a:ext cx="4206240" cy="1143000"/>
          </a:xfrm>
          <a:prstGeom prst="rect">
            <a:avLst/>
          </a:prstGeom>
          <a:solidFill>
            <a:srgbClr val="0F234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33272" y="36850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Engine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33272" y="399592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payment, the backend awards randomized Campus Credits, scratch cards, and vendor coupons.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36592" y="2331720"/>
            <a:ext cx="4206240" cy="1143000"/>
          </a:xfrm>
          <a:prstGeom prst="rect">
            <a:avLst/>
          </a:prstGeom>
          <a:solidFill>
            <a:srgbClr val="0F234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🏪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22392" y="24048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Dashboard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22392" y="271576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Canteens and shops access analytics on transaction volumes, ratings, and can publish time-limited offers.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36592" y="3611880"/>
            <a:ext cx="4206240" cy="1143000"/>
          </a:xfrm>
          <a:prstGeom prst="rect">
            <a:avLst/>
          </a:prstGeom>
          <a:solidFill>
            <a:srgbClr val="0F234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22392" y="36850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Credit Wallet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22392" y="399592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accumulate and redeem credits across any participating vendor on campus — a closed-loop reward loop.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User Journey &amp; Process Flow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143000"/>
            <a:ext cx="20116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234440"/>
            <a:ext cx="685800" cy="6858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234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20299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47472" y="23042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QR Scan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180136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scans a vendor-specific QR code using the Campus Pay app.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2487168"/>
            <a:ext cx="118872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239572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32304" y="1143000"/>
            <a:ext cx="20116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90672" y="1234440"/>
            <a:ext cx="685800" cy="6858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1234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23744" y="20299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23744" y="23042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UPI Intent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42032" y="2743200"/>
            <a:ext cx="180136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deep-links to GPay / PhonePe, securely passing transaction details.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62272" y="2487168"/>
            <a:ext cx="118872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62272" y="239572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08576" y="1143000"/>
            <a:ext cx="20116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66944" y="1234440"/>
            <a:ext cx="685800" cy="6858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66944" y="1234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0016" y="20299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00016" y="23042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S2S Webhook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18304" y="2743200"/>
            <a:ext cx="180136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processor fires a server-to-server callback to Spring Boot / Python backend.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38544" y="2487168"/>
            <a:ext cx="118872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38544" y="239572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84848" y="1143000"/>
            <a:ext cx="20116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43216" y="1234440"/>
            <a:ext cx="685800" cy="6858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43216" y="1234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76288" y="20299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76288" y="23042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 Engine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94576" y="2743200"/>
            <a:ext cx="180136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triggers atomic DB transaction to award Campus Credits or scratch card.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Trust Model &amp; Data Integrity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4206240" cy="1371600"/>
          </a:xfrm>
          <a:prstGeom prst="rect">
            <a:avLst/>
          </a:prstGeom>
          <a:solidFill>
            <a:srgbClr val="0F234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34440"/>
            <a:ext cx="64008" cy="13716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60704" y="13258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TLS/HTTPS + JWT Auth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0704" y="170992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communication encrypted in transit via TLS. Stateless JSON Web Tokens manage sessions, eliminating server-side session state vulnerabilities.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36592" y="1234440"/>
            <a:ext cx="4206240" cy="1371600"/>
          </a:xfrm>
          <a:prstGeom prst="rect">
            <a:avLst/>
          </a:prstGeom>
          <a:solidFill>
            <a:srgbClr val="0F234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36592" y="1234440"/>
            <a:ext cx="64008" cy="13716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49824" y="13258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Webhook Verification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9824" y="170992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incoming S2S webhook is verified against a private server key using HMAC. Spoofed 'successful payment' callbacks are cryptographically rejected.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2743200"/>
            <a:ext cx="4206240" cy="1371600"/>
          </a:xfrm>
          <a:prstGeom prst="rect">
            <a:avLst/>
          </a:prstGeom>
          <a:solidFill>
            <a:srgbClr val="0F234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743200"/>
            <a:ext cx="64008" cy="13716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♻️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60704" y="28346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0704" y="321868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webhook retries (common in UPI) are deduplicated using unique idempotency keys — preventing double-crediting of Campus Credits.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36592" y="2743200"/>
            <a:ext cx="4206240" cy="1371600"/>
          </a:xfrm>
          <a:prstGeom prst="rect">
            <a:avLst/>
          </a:prstGeom>
          <a:solidFill>
            <a:srgbClr val="0F234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36592" y="2743200"/>
            <a:ext cx="64008" cy="13716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01184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⚛️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49824" y="28346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Atomic Transactions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9824" y="321868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 and reward distribution are always perfectly synced. If any step fails, the entire DB transaction rolls back — no partial states.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" y="4389120"/>
            <a:ext cx="8449056" cy="502920"/>
          </a:xfrm>
          <a:prstGeom prst="rect">
            <a:avLst/>
          </a:prstGeom>
          <a:solidFill>
            <a:srgbClr val="00614F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434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Zero Trust Principle: No client-side data is trusted. Every transaction claim must be independently verified server-side before any reward or state change occurs.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&amp; EDGE CASES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System &amp; Automated Dispute Resolution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0233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0233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⭐  Transaction-Linked Ratings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successful payment, the app prompts a quick 1–5 star rating for the specific canteen or shop.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5420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Vendor-specific, transaction-linked reviews (not generic ratings)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9992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data reveals quality patterns by meal period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4564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scores automatically flag vendors for admin review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9136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see aggregate scores in their dashboard analytics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00600" y="1143000"/>
            <a:ext cx="40233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143000"/>
            <a:ext cx="40233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298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 Automated Dispute Resolution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83480" y="181051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common UPI edge case: money deducted but transaction shows as failed.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25420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taps 'Report Issue' linked to unique Order ID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83480" y="29992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calls payment processor API to fetch actual bank status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83480" y="34564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auto-reconciles and updates student's transaction state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83480" y="39136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panic and eliminates manual support ticket overhead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ADVANTAGES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Architecture Wins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3566160"/>
          </a:xfrm>
          <a:prstGeom prst="rect">
            <a:avLst/>
          </a:prstGeom>
          <a:solidFill>
            <a:srgbClr val="0F2342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99339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84048" y="2724912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Infra Cost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51560" y="3145536"/>
            <a:ext cx="118872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2461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Intent delegates payments to regulated apps (GPay, PhonePe) — zero regulatory overhead or RBI licensing required.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1188720"/>
            <a:ext cx="2743200" cy="3566160"/>
          </a:xfrm>
          <a:prstGeom prst="rect">
            <a:avLst/>
          </a:prstGeom>
          <a:solidFill>
            <a:srgbClr val="0F2342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27832" y="199339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337560" y="2724912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Off-Peak Foot Traffic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05072" y="3145536"/>
            <a:ext cx="118872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32461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issue timed coupons during slow hours, driving measurable increases in canteen utilization.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81344" y="1188720"/>
            <a:ext cx="2743200" cy="3566160"/>
          </a:xfrm>
          <a:prstGeom prst="rect">
            <a:avLst/>
          </a:prstGeom>
          <a:solidFill>
            <a:srgbClr val="0F2342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81344" y="199339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291072" y="2724912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Aligned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58584" y="3145536"/>
            <a:ext cx="118872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18504" y="32461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supports the institution's cashless campus initiative, reducing cash handling costs and audit complexity.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00876F">
              <a:alpha val="12000"/>
            </a:srgbClr>
          </a:solidFill>
          <a:ln w="12700">
            <a:solidFill>
              <a:srgbClr val="00876F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Campus Pay Gateway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Hyper-Local Payments. Campus-Wide Rewards.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3429000"/>
            <a:ext cx="18288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Integration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3429000"/>
            <a:ext cx="18288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Security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3429000"/>
            <a:ext cx="18288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Engine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Pay Gateway</dc:title>
  <dc:subject>PptxGenJS Presentation</dc:subject>
  <dc:creator>PptxGenJS</dc:creator>
  <cp:lastModifiedBy>PptxGenJS</cp:lastModifiedBy>
  <cp:revision>1</cp:revision>
  <dcterms:created xsi:type="dcterms:W3CDTF">2026-03-01T19:31:34Z</dcterms:created>
  <dcterms:modified xsi:type="dcterms:W3CDTF">2026-03-01T19:31:34Z</dcterms:modified>
</cp:coreProperties>
</file>